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  <p:sldId id="264" r:id="rId9"/>
    <p:sldId id="267" r:id="rId10"/>
    <p:sldId id="265" r:id="rId11"/>
    <p:sldId id="269" r:id="rId12"/>
    <p:sldId id="266" r:id="rId13"/>
    <p:sldId id="271" r:id="rId14"/>
    <p:sldId id="261" r:id="rId15"/>
    <p:sldId id="272" r:id="rId16"/>
    <p:sldId id="273" r:id="rId17"/>
    <p:sldId id="274" r:id="rId18"/>
    <p:sldId id="275" r:id="rId19"/>
    <p:sldId id="276" r:id="rId20"/>
    <p:sldId id="279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uipath.com/robot/standalone/2023.4/admin-guide/introduct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 Process Automation (RPA)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📘 Definition of RPA</a:t>
            </a:r>
          </a:p>
          <a:p>
            <a:r>
              <a:rPr lang="en-US" b="1" dirty="0"/>
              <a:t>Robotic Process Automation (RPA)</a:t>
            </a:r>
            <a:r>
              <a:rPr lang="en-US" dirty="0"/>
              <a:t> is a technology that uses </a:t>
            </a:r>
            <a:r>
              <a:rPr lang="en-US" b="1" dirty="0"/>
              <a:t>software robots (bots)</a:t>
            </a:r>
            <a:r>
              <a:rPr lang="en-US" dirty="0"/>
              <a:t> to emulate human actions while interacting with digital systems to execute </a:t>
            </a:r>
            <a:r>
              <a:rPr lang="en-US" b="1" dirty="0"/>
              <a:t>rule-based, repetitive business processes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✅ Typical RPA Tasks:</a:t>
            </a:r>
          </a:p>
          <a:p>
            <a:r>
              <a:rPr lang="en-US" dirty="0"/>
              <a:t>Data entry &amp; form filling</a:t>
            </a:r>
          </a:p>
          <a:p>
            <a:r>
              <a:rPr lang="en-US" dirty="0"/>
              <a:t>Invoice processing</a:t>
            </a:r>
          </a:p>
          <a:p>
            <a:r>
              <a:rPr lang="en-US" dirty="0"/>
              <a:t>Report generation</a:t>
            </a:r>
          </a:p>
          <a:p>
            <a:r>
              <a:rPr lang="en-US" dirty="0"/>
              <a:t>Email automation</a:t>
            </a:r>
          </a:p>
          <a:p>
            <a:r>
              <a:rPr lang="en-US" dirty="0"/>
              <a:t>ERP/CRM updates</a:t>
            </a:r>
          </a:p>
          <a:p>
            <a:r>
              <a:rPr lang="en-US" dirty="0"/>
              <a:t>👉 Bots operate on </a:t>
            </a:r>
            <a:r>
              <a:rPr lang="en-US" b="1" dirty="0"/>
              <a:t>UI level</a:t>
            </a:r>
            <a:r>
              <a:rPr lang="en-US" dirty="0"/>
              <a:t> just like a human — no deep system integration needed!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Need for RPA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Reduces manual effort</a:t>
            </a:r>
          </a:p>
          <a:p>
            <a:pPr marL="0" indent="0">
              <a:buNone/>
            </a:pPr>
            <a:r>
              <a:rPr dirty="0"/>
              <a:t>• Improves accuracy</a:t>
            </a:r>
          </a:p>
          <a:p>
            <a:pPr marL="0" indent="0">
              <a:buNone/>
            </a:pPr>
            <a:r>
              <a:rPr dirty="0"/>
              <a:t>• Saves time and cost</a:t>
            </a:r>
          </a:p>
          <a:p>
            <a:pPr marL="0" indent="0">
              <a:buNone/>
            </a:pPr>
            <a:r>
              <a:rPr dirty="0"/>
              <a:t>• Works 24/7</a:t>
            </a:r>
          </a:p>
          <a:p>
            <a:pPr marL="0" indent="0">
              <a:buNone/>
            </a:pPr>
            <a:r>
              <a:rPr dirty="0"/>
              <a:t>• Enhances productivity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BC562-72D7-D5F2-0033-C9510C29CFD2}"/>
              </a:ext>
            </a:extLst>
          </p:cNvPr>
          <p:cNvSpPr txBox="1"/>
          <p:nvPr/>
        </p:nvSpPr>
        <p:spPr>
          <a:xfrm>
            <a:off x="584521" y="4934634"/>
            <a:ext cx="77261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✨ Especially useful in </a:t>
            </a:r>
            <a:r>
              <a:rPr lang="en-US" sz="2800" b="1" dirty="0"/>
              <a:t>banking, healthcare, telecom, education, and IT services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FC5D9-A6E5-5191-E36E-818851FD9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28" y="176514"/>
            <a:ext cx="8229600" cy="3735729"/>
          </a:xfrm>
        </p:spPr>
        <p:txBody>
          <a:bodyPr/>
          <a:lstStyle/>
          <a:p>
            <a:r>
              <a:rPr lang="en-US" b="1" dirty="0"/>
              <a:t>❓ Why RPA is Needed (The Need for RPA)</a:t>
            </a:r>
          </a:p>
          <a:p>
            <a:r>
              <a:rPr lang="en-US" b="1" dirty="0"/>
              <a:t>🔹 Business Challenges:</a:t>
            </a:r>
          </a:p>
          <a:p>
            <a:r>
              <a:rPr lang="en-US" dirty="0"/>
              <a:t>High manual effort ⏳</a:t>
            </a:r>
          </a:p>
          <a:p>
            <a:r>
              <a:rPr lang="en-US" dirty="0"/>
              <a:t>Human errors ❌</a:t>
            </a:r>
          </a:p>
          <a:p>
            <a:r>
              <a:rPr lang="en-US" dirty="0"/>
              <a:t>Low scalability 📉</a:t>
            </a:r>
          </a:p>
          <a:p>
            <a:r>
              <a:rPr lang="en-US" dirty="0"/>
              <a:t>High operational cost 💰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5AA560-896B-2D65-65BD-69E139571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647128"/>
              </p:ext>
            </p:extLst>
          </p:nvPr>
        </p:nvGraphicFramePr>
        <p:xfrm>
          <a:off x="353028" y="4099884"/>
          <a:ext cx="8229600" cy="258160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07304455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6843404"/>
                    </a:ext>
                  </a:extLst>
                </a:gridCol>
              </a:tblGrid>
              <a:tr h="43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41421"/>
                  </a:ext>
                </a:extLst>
              </a:tr>
              <a:tr h="43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⚡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5–10x faster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60652"/>
                  </a:ext>
                </a:extLst>
              </a:tr>
              <a:tr h="43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🎯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Near zero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999900"/>
                  </a:ext>
                </a:extLst>
              </a:tr>
              <a:tr h="43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📈 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Bots can run 24/7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88873"/>
                  </a:ext>
                </a:extLst>
              </a:tr>
              <a:tr h="43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💵 Cost Saving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Reduced manpower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294096"/>
                  </a:ext>
                </a:extLst>
              </a:tr>
              <a:tr h="43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🔄 Standardization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Consistent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13261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7050AE1-4C02-D713-432C-5D029424E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28" y="3770719"/>
            <a:ext cx="73672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1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55000" lnSpcReduction="20000"/>
          </a:bodyPr>
          <a:lstStyle/>
          <a:p>
            <a:r>
              <a:rPr sz="5100" dirty="0"/>
              <a:t>Script-based automation requiring coding skills and complex integration.</a:t>
            </a:r>
            <a:endParaRPr lang="en-US" sz="5100" dirty="0"/>
          </a:p>
          <a:p>
            <a:endParaRPr lang="en-IN" dirty="0"/>
          </a:p>
          <a:p>
            <a:r>
              <a:rPr lang="en-IN" sz="5100" dirty="0"/>
              <a:t>Example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Google Apps Script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Selenium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Bash (Shell Scripting)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Python Scripts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PowerShell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Cron Jobs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Jenkins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Ansible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Puppet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UFT (QTP)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RPA vs Traditional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RPA: Easy, UI-based, quick deployment</a:t>
            </a:r>
          </a:p>
          <a:p>
            <a:r>
              <a:t>Traditional: Complex, code-heavy, slow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04D5-C47C-7096-12AE-4ABD8202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⚙️ RPA vs Traditional Automation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F91AD7-6998-7BB9-D178-D27E02103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158574"/>
              </p:ext>
            </p:extLst>
          </p:nvPr>
        </p:nvGraphicFramePr>
        <p:xfrm>
          <a:off x="457200" y="1417638"/>
          <a:ext cx="8229600" cy="500495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1864364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8969560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0554360"/>
                    </a:ext>
                  </a:extLst>
                </a:gridCol>
              </a:tblGrid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RPA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Traditional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210321"/>
                  </a:ext>
                </a:extLst>
              </a:tr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🔧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UI-based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63252"/>
                  </a:ext>
                </a:extLst>
              </a:tr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💻 Technical Skill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Low/No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12673"/>
                  </a:ext>
                </a:extLst>
              </a:tr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⏱ Development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Days/Weeks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866725"/>
                  </a:ext>
                </a:extLst>
              </a:tr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🔄 System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mandatory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Mandatory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965871"/>
                  </a:ext>
                </a:extLst>
              </a:tr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📊 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555438"/>
                  </a:ext>
                </a:extLst>
              </a:tr>
              <a:tr h="696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💰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31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85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UiPath 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UiPath Studio – Design bots</a:t>
            </a:r>
          </a:p>
          <a:p>
            <a:r>
              <a:rPr dirty="0"/>
              <a:t>UiPath Robots – Execute tasks</a:t>
            </a:r>
            <a:endParaRPr lang="en-US" dirty="0"/>
          </a:p>
          <a:p>
            <a:r>
              <a:rPr lang="en-US" dirty="0"/>
              <a:t>UiPath Orchestrator – Manage bots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5F02-9CDD-72DF-FFA0-0F3AEA20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🧩 1. UiPath Studio (Design Layer)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C962-45E7-74CD-DF21-AA7489CA6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dirty="0"/>
              <a:t>👉 Used to </a:t>
            </a:r>
            <a:r>
              <a:rPr lang="en-US" sz="3300" b="1" dirty="0"/>
              <a:t>build automation workflows</a:t>
            </a:r>
            <a:endParaRPr lang="en-US" sz="3300" dirty="0"/>
          </a:p>
          <a:p>
            <a:r>
              <a:rPr lang="en-US" sz="3300" b="1" dirty="0"/>
              <a:t>🔹 Key Functions:</a:t>
            </a:r>
          </a:p>
          <a:p>
            <a:r>
              <a:rPr lang="en-US" sz="3300" dirty="0"/>
              <a:t>Drag-and-drop activities</a:t>
            </a:r>
          </a:p>
          <a:p>
            <a:r>
              <a:rPr lang="en-US" sz="3300" dirty="0"/>
              <a:t>Flowcharts, Sequences, State Machines</a:t>
            </a:r>
          </a:p>
          <a:p>
            <a:r>
              <a:rPr lang="en-US" sz="3300" dirty="0"/>
              <a:t>Debugging &amp; testing</a:t>
            </a:r>
          </a:p>
          <a:p>
            <a:r>
              <a:rPr lang="en-US" sz="3300" dirty="0"/>
              <a:t>Recording user actions</a:t>
            </a:r>
          </a:p>
          <a:p>
            <a:endParaRPr lang="en-US" sz="3300" b="1" dirty="0"/>
          </a:p>
          <a:p>
            <a:pPr marL="0" indent="0">
              <a:buNone/>
            </a:pPr>
            <a:r>
              <a:rPr lang="en-US" sz="3300" b="1" dirty="0"/>
              <a:t>🎯 Users:</a:t>
            </a:r>
          </a:p>
          <a:p>
            <a:r>
              <a:rPr lang="en-US" sz="3300" dirty="0"/>
              <a:t>Developers</a:t>
            </a:r>
          </a:p>
          <a:p>
            <a:r>
              <a:rPr lang="en-US" sz="3300" dirty="0"/>
              <a:t>Business Analysts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2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872D-6B8C-F1BA-A2BC-F329AFD5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D990-8989-51E6-679F-CB76CA42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🧩 1. UiPath Studio (Design Layer)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B192-56AB-9A95-C079-3ED9F80CF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C357D-B6CE-9FC5-546F-42256458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34" y="1200874"/>
            <a:ext cx="8229600" cy="492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6E5E-6E14-81CB-CDC6-5258C8C4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🤖 2. UiPath Robot (Execution Layer)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A928D-6D53-CD73-F8BF-313751194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74284" cy="49831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👉 Executes the automation created in Studio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Types:</a:t>
            </a:r>
          </a:p>
          <a:p>
            <a:r>
              <a:rPr lang="en-US" sz="2400" dirty="0"/>
              <a:t>🧑‍💻 Attended Robot (triggered by human)</a:t>
            </a:r>
          </a:p>
          <a:p>
            <a:r>
              <a:rPr lang="en-US" sz="2400" dirty="0"/>
              <a:t>🌐 Unattended Robot (runs automatically)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🔹 Capabilities:</a:t>
            </a:r>
          </a:p>
          <a:p>
            <a:r>
              <a:rPr lang="en-US" sz="2400" dirty="0"/>
              <a:t>Click, type, read data</a:t>
            </a:r>
          </a:p>
          <a:p>
            <a:r>
              <a:rPr lang="en-US" sz="2400" dirty="0"/>
              <a:t>Interact with apps, browsers, Excel, SAP, etc.</a:t>
            </a:r>
          </a:p>
          <a:p>
            <a:r>
              <a:rPr lang="en-US" sz="2400" dirty="0"/>
              <a:t> The </a:t>
            </a:r>
            <a:r>
              <a:rPr lang="en-US" sz="2400" b="1" dirty="0"/>
              <a:t>Robot</a:t>
            </a:r>
            <a:r>
              <a:rPr lang="en-US" sz="2400" dirty="0"/>
              <a:t> is a background service that executes the code developed in </a:t>
            </a:r>
            <a:r>
              <a:rPr lang="en-US" sz="2400" dirty="0">
                <a:hlinkClick r:id="rId2"/>
              </a:rPr>
              <a:t>UiPath Studio</a:t>
            </a:r>
            <a:r>
              <a:rPr lang="en-US" sz="2400" dirty="0"/>
              <a:t>. The </a:t>
            </a:r>
            <a:r>
              <a:rPr lang="en-US" sz="2400" b="1" dirty="0"/>
              <a:t>Assistant</a:t>
            </a:r>
            <a:r>
              <a:rPr lang="en-US" sz="2400" dirty="0"/>
              <a:t> is a client of that robot, providing a graphical interface for users to start, stop, and manage automations.</a:t>
            </a:r>
          </a:p>
        </p:txBody>
      </p:sp>
    </p:spTree>
    <p:extLst>
      <p:ext uri="{BB962C8B-B14F-4D97-AF65-F5344CB8AC3E}">
        <p14:creationId xmlns:p14="http://schemas.microsoft.com/office/powerpoint/2010/main" val="2169691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6EF4-EC2A-A1C2-D2BC-90A89A02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DE9F-6F21-5A6D-210D-AACA3103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🤖 2. UiPath Robot (Execution Layer)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F9E1A7-6EB4-A485-D85E-B900C132C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3966"/>
            <a:ext cx="8374063" cy="441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0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D2DA-F4D5-42EA-0CDC-9FD92450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10" y="274638"/>
            <a:ext cx="8142790" cy="141526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☁️ 3. UiPath Orchestrator (Control Layer)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7058-5F88-E23C-553C-8A1F4714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0583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👉 Centralized web platform to </a:t>
            </a:r>
            <a:r>
              <a:rPr lang="en-US" b="1" dirty="0"/>
              <a:t>manage, monitor, and schedule bots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🔹 Core Features:</a:t>
            </a:r>
          </a:p>
          <a:p>
            <a:r>
              <a:rPr lang="en-US" dirty="0"/>
              <a:t>Bot deployment 🚀</a:t>
            </a:r>
          </a:p>
          <a:p>
            <a:r>
              <a:rPr lang="en-US" dirty="0"/>
              <a:t>Job scheduling ⏰</a:t>
            </a:r>
          </a:p>
          <a:p>
            <a:r>
              <a:rPr lang="en-US" dirty="0"/>
              <a:t>Queue management 📥</a:t>
            </a:r>
          </a:p>
          <a:p>
            <a:r>
              <a:rPr lang="en-US" dirty="0"/>
              <a:t>Logs &amp; analytics 📊</a:t>
            </a:r>
          </a:p>
          <a:p>
            <a:r>
              <a:rPr lang="en-US" dirty="0"/>
              <a:t>Security &amp; access control 🔐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7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14E1-2C9A-2696-E85B-DC9195AA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502B-3E0D-BC22-D671-BF387D7F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19" y="274638"/>
            <a:ext cx="8518966" cy="141526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000" b="1" dirty="0"/>
              <a:t>☁️ 3. UiPath Orchestrator (Control Layer)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0651-1239-DB3D-BE05-8C5C8ED2F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058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72C62-C164-5DA4-CE06-F00D1464D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3" y="1454226"/>
            <a:ext cx="7928658" cy="481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3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UiPath Components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39559" cy="4525963"/>
          </a:xfrm>
        </p:spPr>
        <p:txBody>
          <a:bodyPr/>
          <a:lstStyle/>
          <a:p>
            <a:r>
              <a:rPr lang="en-US" sz="2400" dirty="0"/>
              <a:t>UiPath Studio  →  UiPath Robot  →  UiPath Orchestrator</a:t>
            </a:r>
          </a:p>
          <a:p>
            <a:pPr marL="0" indent="0">
              <a:buNone/>
            </a:pPr>
            <a:r>
              <a:rPr lang="en-US" sz="2400" dirty="0"/>
              <a:t>        (Design)                   (Execute)                    (Manage)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D5FD-1369-0818-7D9A-8B92BA2E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3098"/>
            <a:ext cx="8229600" cy="55873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🤖 Basics of UI Automation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DEFC-3760-3FA2-93D1-D0388175B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41" y="949124"/>
            <a:ext cx="8657863" cy="582206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400" dirty="0"/>
              <a:t>UI Automation is the process of automating </a:t>
            </a:r>
            <a:r>
              <a:rPr lang="en-US" sz="7400" b="1" dirty="0"/>
              <a:t>human-like interactions</a:t>
            </a:r>
            <a:r>
              <a:rPr lang="en-US" sz="7400" dirty="0"/>
              <a:t> with software applications such as:</a:t>
            </a:r>
          </a:p>
          <a:p>
            <a:r>
              <a:rPr lang="en-US" sz="7400" dirty="0"/>
              <a:t>Web applications 🌐</a:t>
            </a:r>
          </a:p>
          <a:p>
            <a:r>
              <a:rPr lang="en-US" sz="7400" dirty="0"/>
              <a:t>Desktop software 🖥️</a:t>
            </a:r>
          </a:p>
          <a:p>
            <a:r>
              <a:rPr lang="en-US" sz="7400" dirty="0"/>
              <a:t>Legacy systems 📊</a:t>
            </a:r>
          </a:p>
          <a:p>
            <a:r>
              <a:rPr lang="en-US" sz="7400" dirty="0"/>
              <a:t>Most commonly implemented using tools like </a:t>
            </a:r>
            <a:r>
              <a:rPr lang="en-US" sz="7400" b="1" dirty="0"/>
              <a:t>UiPath Studio</a:t>
            </a:r>
            <a:r>
              <a:rPr lang="en-US" sz="7400" dirty="0"/>
              <a:t>.</a:t>
            </a:r>
          </a:p>
          <a:p>
            <a:pPr marL="0" indent="0">
              <a:buNone/>
            </a:pPr>
            <a:r>
              <a:rPr lang="en-US" sz="7400" b="1" dirty="0"/>
              <a:t>🎯 What UI Automation Does</a:t>
            </a:r>
          </a:p>
          <a:p>
            <a:r>
              <a:rPr lang="en-US" sz="7400" dirty="0"/>
              <a:t>It simulates actions like:</a:t>
            </a:r>
          </a:p>
          <a:p>
            <a:r>
              <a:rPr lang="en-US" sz="7400" dirty="0"/>
              <a:t>✅ Clicking buttons</a:t>
            </a:r>
            <a:br>
              <a:rPr lang="en-US" sz="7400" dirty="0"/>
            </a:br>
            <a:r>
              <a:rPr lang="en-US" sz="7400" dirty="0"/>
              <a:t>✅ Typing text</a:t>
            </a:r>
            <a:br>
              <a:rPr lang="en-US" sz="7400" dirty="0"/>
            </a:br>
            <a:r>
              <a:rPr lang="en-US" sz="7400" dirty="0"/>
              <a:t>✅ Reading screen data</a:t>
            </a:r>
            <a:br>
              <a:rPr lang="en-US" sz="7400" dirty="0"/>
            </a:br>
            <a:r>
              <a:rPr lang="en-US" sz="7400" dirty="0"/>
              <a:t>✅ Submitting forms</a:t>
            </a:r>
          </a:p>
          <a:p>
            <a:r>
              <a:rPr lang="en-US" sz="7400" dirty="0"/>
              <a:t>👉 Just like a human user — but faster and error-free.</a:t>
            </a:r>
            <a:endParaRPr lang="en-US" sz="7400" b="1" dirty="0"/>
          </a:p>
          <a:p>
            <a:pPr marL="0" indent="0">
              <a:buNone/>
            </a:pPr>
            <a:r>
              <a:rPr lang="en-US" sz="7400" b="1" dirty="0"/>
              <a:t>⭐ Key Benefits</a:t>
            </a:r>
          </a:p>
          <a:p>
            <a:r>
              <a:rPr lang="en-US" sz="7400" dirty="0"/>
              <a:t>Works without APIs</a:t>
            </a:r>
          </a:p>
          <a:p>
            <a:r>
              <a:rPr lang="en-US" sz="7400" dirty="0"/>
              <a:t>Automates repetitive tasks</a:t>
            </a:r>
          </a:p>
          <a:p>
            <a:r>
              <a:rPr lang="en-US" sz="7400" dirty="0"/>
              <a:t>Reduces human error</a:t>
            </a:r>
          </a:p>
          <a:p>
            <a:r>
              <a:rPr lang="en-US" sz="7400" dirty="0"/>
              <a:t>Saves time and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97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CC23-B530-AC5E-7D76-49A8EDA4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UiPath Selectors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D1EB9-7BAD-552D-933C-F699682B6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UiPath</a:t>
            </a:r>
            <a:r>
              <a:rPr lang="en-US" dirty="0"/>
              <a:t>, a </a:t>
            </a:r>
            <a:r>
              <a:rPr lang="en-US" i="1" dirty="0"/>
              <a:t>selector</a:t>
            </a:r>
            <a:r>
              <a:rPr lang="en-US" dirty="0"/>
              <a:t> is an XML fragment that uniquely identifies a UI element in an application (desktop, web, SAP, Citrix, etc.). It is the core mechanism behind reliable UI automation.</a:t>
            </a:r>
          </a:p>
          <a:p>
            <a:r>
              <a:rPr lang="en-US" dirty="0"/>
              <a:t>A selector is essentially a </a:t>
            </a:r>
            <a:r>
              <a:rPr lang="en-US" b="1" dirty="0"/>
              <a:t>structured query over the UI Automation tree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7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A598-2396-0210-9489-0A3E5A7C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🧩 </a:t>
            </a:r>
            <a:br>
              <a:rPr lang="en-US" b="1" dirty="0"/>
            </a:br>
            <a:r>
              <a:rPr lang="en-US" b="1" dirty="0"/>
              <a:t>1. Basic Structure of a Selector</a:t>
            </a:r>
            <a:br>
              <a:rPr lang="en-US" b="1" dirty="0"/>
            </a:br>
            <a:r>
              <a:rPr lang="en-US" dirty="0"/>
              <a:t>A typical selector looks like: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50892A-131D-4972-8B3E-D35054EF36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wnd</a:t>
            </a:r>
            <a:r>
              <a:rPr lang="en-US" dirty="0"/>
              <a:t> app='notepad.exe' title='Untitled - Notepad'&gt;</a:t>
            </a:r>
          </a:p>
          <a:p>
            <a:r>
              <a:rPr lang="en-US" dirty="0"/>
              <a:t>   &lt;ctrl name='Text Editor' role='editable text'/&gt;</a:t>
            </a:r>
          </a:p>
          <a:p>
            <a:r>
              <a:rPr lang="en-US" dirty="0"/>
              <a:t>&lt;/</a:t>
            </a:r>
            <a:r>
              <a:rPr lang="en-US" dirty="0" err="1"/>
              <a:t>wnd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D89FE5-76C0-C3F9-F43E-916C7C426C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Concepts</a:t>
            </a:r>
          </a:p>
          <a:p>
            <a:r>
              <a:rPr lang="en-US" dirty="0"/>
              <a:t>&lt;</a:t>
            </a:r>
            <a:r>
              <a:rPr lang="en-US" dirty="0" err="1"/>
              <a:t>wnd</a:t>
            </a:r>
            <a:r>
              <a:rPr lang="en-US" dirty="0"/>
              <a:t>&gt; → Window node</a:t>
            </a:r>
          </a:p>
          <a:p>
            <a:r>
              <a:rPr lang="en-US" dirty="0"/>
              <a:t>&lt;ctrl&gt; → Child control</a:t>
            </a:r>
          </a:p>
          <a:p>
            <a:r>
              <a:rPr lang="en-US" dirty="0"/>
              <a:t>app → Process name</a:t>
            </a:r>
          </a:p>
          <a:p>
            <a:r>
              <a:rPr lang="en-US" dirty="0"/>
              <a:t>title → Window title</a:t>
            </a:r>
          </a:p>
          <a:p>
            <a:r>
              <a:rPr lang="en-US" dirty="0"/>
              <a:t>name → UI element label</a:t>
            </a:r>
          </a:p>
          <a:p>
            <a:r>
              <a:rPr lang="en-US" dirty="0"/>
              <a:t>role → Control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03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099C-B70F-3874-9009-E5025709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EF6D-2624-5919-0589-DB7CCF00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selector</a:t>
            </a:r>
            <a:r>
              <a:rPr lang="en-US" dirty="0"/>
              <a:t> is an </a:t>
            </a:r>
            <a:r>
              <a:rPr lang="en-US" b="1" dirty="0"/>
              <a:t>XML-based identifier</a:t>
            </a:r>
            <a:r>
              <a:rPr lang="en-US" dirty="0"/>
              <a:t> used by UiPath to uniquely locate a UI element on the screen.</a:t>
            </a:r>
          </a:p>
          <a:p>
            <a:r>
              <a:rPr lang="en-US" dirty="0"/>
              <a:t>👉 Technically, it is a </a:t>
            </a:r>
            <a:r>
              <a:rPr lang="en-US" b="1" dirty="0"/>
              <a:t>structured query over the UI Automation tree</a:t>
            </a:r>
            <a:r>
              <a:rPr lang="en-US" dirty="0"/>
              <a:t> that tells UiPath: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59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5FEF-D6BC-79A7-35AA-8D6F59CF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Execution of attended automation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746A1-DE77-9AB7-530E-052C24AF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Attended Automation?</a:t>
            </a:r>
          </a:p>
          <a:p>
            <a:r>
              <a:rPr lang="en-US" dirty="0"/>
              <a:t>Runs on the </a:t>
            </a:r>
            <a:r>
              <a:rPr lang="en-US" b="1" dirty="0"/>
              <a:t>user’s machine</a:t>
            </a:r>
            <a:endParaRPr lang="en-US" dirty="0"/>
          </a:p>
          <a:p>
            <a:r>
              <a:rPr lang="en-US" dirty="0"/>
              <a:t>Requires an </a:t>
            </a:r>
            <a:r>
              <a:rPr lang="en-US" b="1" dirty="0"/>
              <a:t>active login session</a:t>
            </a:r>
            <a:endParaRPr lang="en-US" dirty="0"/>
          </a:p>
          <a:p>
            <a:r>
              <a:rPr lang="en-US" dirty="0"/>
              <a:t>Triggered manually by the user</a:t>
            </a:r>
          </a:p>
          <a:p>
            <a:r>
              <a:rPr lang="en-US" dirty="0"/>
              <a:t>Designed to assist in real-time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06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AF6E-B5B6-9A32-B570-CA12C5C2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🔄 Execution Flow (Step-by-Step)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E392-4BC9-9FD9-6863-FB8B676C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1️⃣ Development</a:t>
            </a:r>
          </a:p>
          <a:p>
            <a:r>
              <a:rPr lang="en-US" dirty="0"/>
              <a:t>Workflow created in </a:t>
            </a:r>
            <a:r>
              <a:rPr lang="en-US" b="1" dirty="0"/>
              <a:t>UiPath Studio</a:t>
            </a:r>
            <a:endParaRPr lang="en-US" dirty="0"/>
          </a:p>
          <a:p>
            <a:r>
              <a:rPr lang="en-US" dirty="0"/>
              <a:t>Published to </a:t>
            </a:r>
            <a:r>
              <a:rPr lang="en-US" b="1" dirty="0"/>
              <a:t>Orchestrator</a:t>
            </a:r>
            <a:r>
              <a:rPr lang="en-US" dirty="0"/>
              <a:t> or local machine</a:t>
            </a:r>
          </a:p>
          <a:p>
            <a:r>
              <a:rPr lang="en-US" b="1" dirty="0"/>
              <a:t>2️⃣ Deployment</a:t>
            </a:r>
          </a:p>
          <a:p>
            <a:r>
              <a:rPr lang="en-US" dirty="0"/>
              <a:t>Process made available to the user</a:t>
            </a:r>
          </a:p>
          <a:p>
            <a:r>
              <a:rPr lang="en-US" dirty="0"/>
              <a:t>Assigned via Orchestrator (optional)</a:t>
            </a:r>
          </a:p>
          <a:p>
            <a:r>
              <a:rPr lang="en-US" b="1" dirty="0"/>
              <a:t>3️⃣ Trigger Mechanism</a:t>
            </a:r>
          </a:p>
          <a:p>
            <a:r>
              <a:rPr lang="en-US" dirty="0"/>
              <a:t>Attended workflows can start via:</a:t>
            </a:r>
          </a:p>
          <a:p>
            <a:r>
              <a:rPr lang="en-US" dirty="0"/>
              <a:t>▶️ UiPath Assistant (manual click)</a:t>
            </a:r>
          </a:p>
          <a:p>
            <a:r>
              <a:rPr lang="en-US" dirty="0"/>
              <a:t>⌨️ Keyboard shortcut</a:t>
            </a:r>
          </a:p>
          <a:p>
            <a:r>
              <a:rPr lang="en-US" dirty="0"/>
              <a:t>🖱 Context menu trigger</a:t>
            </a:r>
          </a:p>
          <a:p>
            <a:r>
              <a:rPr lang="en-US" dirty="0"/>
              <a:t>📁 File-based trigger</a:t>
            </a:r>
          </a:p>
          <a:p>
            <a:r>
              <a:rPr lang="en-US" dirty="0"/>
              <a:t>🧩 Application event trigger</a:t>
            </a:r>
          </a:p>
          <a:p>
            <a:r>
              <a:rPr lang="en-US" dirty="0"/>
              <a:t>API call (advanced use case)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99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72D4-D9FA-3792-5561-A8B1C307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🔹 How It Is Executed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7445-FB09-F1B7-02B1-1D3D869A8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▶ Run from </a:t>
            </a:r>
            <a:r>
              <a:rPr lang="en-US" b="1" dirty="0"/>
              <a:t>UiPath Studio</a:t>
            </a:r>
            <a:r>
              <a:rPr lang="en-US" dirty="0"/>
              <a:t> (development/testing)</a:t>
            </a:r>
          </a:p>
          <a:p>
            <a:r>
              <a:rPr lang="en-US" dirty="0"/>
              <a:t>▶ Run from </a:t>
            </a:r>
            <a:r>
              <a:rPr lang="en-US" b="1" dirty="0"/>
              <a:t>UiPath Assistant</a:t>
            </a:r>
            <a:r>
              <a:rPr lang="en-US" dirty="0"/>
              <a:t> (production use)</a:t>
            </a:r>
          </a:p>
          <a:p>
            <a:r>
              <a:rPr lang="en-US" dirty="0"/>
              <a:t>⌨ Triggered via shortcut / event / user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51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1C58-4E13-46C6-BC5C-46402E09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🔹 Execution Characteristics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120A-401F-52D5-FE92-3EDBC3FB2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Runs in foreground</a:t>
            </a:r>
          </a:p>
          <a:p>
            <a:r>
              <a:rPr lang="en-US" dirty="0"/>
              <a:t>Interacts directly with UI elements</a:t>
            </a:r>
          </a:p>
          <a:p>
            <a:r>
              <a:rPr lang="en-US" dirty="0"/>
              <a:t>Can request user input</a:t>
            </a:r>
          </a:p>
          <a:p>
            <a:r>
              <a:rPr lang="en-US" dirty="0"/>
              <a:t>Stops if user logs 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04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947</Words>
  <Application>Microsoft Office PowerPoint</Application>
  <PresentationFormat>On-screen Show (4:3)</PresentationFormat>
  <Paragraphs>177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Robotic Process Automation (RPA)</vt:lpstr>
      <vt:lpstr>Need for RPA</vt:lpstr>
      <vt:lpstr>PowerPoint Presentation</vt:lpstr>
      <vt:lpstr>Traditional Automation</vt:lpstr>
      <vt:lpstr>RPA vs Traditional Automation</vt:lpstr>
      <vt:lpstr>⚙️ RPA vs Traditional Automation</vt:lpstr>
      <vt:lpstr>UiPath Platform Architecture</vt:lpstr>
      <vt:lpstr>🧩 1. UiPath Studio (Design Layer) </vt:lpstr>
      <vt:lpstr>🧩 1. UiPath Studio (Design Layer) </vt:lpstr>
      <vt:lpstr>  🤖 2. UiPath Robot (Execution Layer)  </vt:lpstr>
      <vt:lpstr>  🤖 2. UiPath Robot (Execution Layer)  </vt:lpstr>
      <vt:lpstr> ☁️ 3. UiPath Orchestrator (Control Layer) </vt:lpstr>
      <vt:lpstr> ☁️ 3. UiPath Orchestrator (Control Layer) </vt:lpstr>
      <vt:lpstr>UiPath Components Flow</vt:lpstr>
      <vt:lpstr> 🤖 Basics of UI Automation </vt:lpstr>
      <vt:lpstr>UiPath Selectors</vt:lpstr>
      <vt:lpstr>🧩  1. Basic Structure of a Selector A typical selector looks like: </vt:lpstr>
      <vt:lpstr>PowerPoint Presentation</vt:lpstr>
      <vt:lpstr>Execution of attended automation workflows</vt:lpstr>
      <vt:lpstr>🔄 Execution Flow (Step-by-Step) </vt:lpstr>
      <vt:lpstr>🔹 How It Is Executed </vt:lpstr>
      <vt:lpstr>🔹 Execution Characteristics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jikku thomas</cp:lastModifiedBy>
  <cp:revision>5</cp:revision>
  <dcterms:created xsi:type="dcterms:W3CDTF">2013-01-27T09:14:16Z</dcterms:created>
  <dcterms:modified xsi:type="dcterms:W3CDTF">2026-02-13T09:33:16Z</dcterms:modified>
  <cp:category/>
</cp:coreProperties>
</file>