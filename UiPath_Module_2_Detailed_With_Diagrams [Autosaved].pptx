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1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79" r:id="rId21"/>
    <p:sldId id="281" r:id="rId22"/>
    <p:sldId id="283" r:id="rId23"/>
    <p:sldId id="284" r:id="rId24"/>
    <p:sldId id="282" r:id="rId25"/>
    <p:sldId id="264" r:id="rId26"/>
    <p:sldId id="265" r:id="rId27"/>
    <p:sldId id="266" r:id="rId28"/>
    <p:sldId id="267" r:id="rId29"/>
    <p:sldId id="26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62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Module 2: Workflows and Data Handling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UiPath – Detailed Explanation with Diagrams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execution model</a:t>
            </a:r>
          </a:p>
          <a:p>
            <a:pPr lvl="1"/>
            <a:r>
              <a:rPr dirty="0"/>
              <a:t>Activities execute step-by-step</a:t>
            </a:r>
          </a:p>
          <a:p>
            <a:pPr lvl="1"/>
            <a:r>
              <a:rPr dirty="0"/>
              <a:t>Best for structured automation tasks</a:t>
            </a:r>
            <a:endParaRPr lang="en-US" dirty="0"/>
          </a:p>
          <a:p>
            <a:pPr lvl="1"/>
            <a:endParaRPr lang="en-IN" dirty="0"/>
          </a:p>
          <a:p>
            <a:pPr lvl="1"/>
            <a:endParaRPr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9453260-D574-D1AB-CA36-459AB9E38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225" y="451412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execution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for simple, step-by-step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debugging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structured automation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2004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Supports multiple branching logic</a:t>
            </a:r>
          </a:p>
          <a:p>
            <a:pPr lvl="1"/>
            <a:r>
              <a:rPr dirty="0"/>
              <a:t>Suitable for complex decision making</a:t>
            </a:r>
          </a:p>
          <a:p>
            <a:pPr lvl="1"/>
            <a:r>
              <a:rPr dirty="0"/>
              <a:t>Flexible execution paths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B7586B-C3DE-3C6B-4C36-B14289CD5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7741" y="446442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complex decision 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branching paths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 for business rule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Flowchart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980" y="1507472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4" name="Diamond 3"/>
          <p:cNvSpPr/>
          <p:nvPr/>
        </p:nvSpPr>
        <p:spPr>
          <a:xfrm>
            <a:off x="2361234" y="3138119"/>
            <a:ext cx="2361237" cy="1005617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5501" y="4859983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Path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22471" y="4907666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Path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 Machine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Event-driven execution model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US" dirty="0"/>
              <a:t>-- Based on states and transitions</a:t>
            </a:r>
          </a:p>
          <a:p>
            <a:pPr lvl="1"/>
            <a:r>
              <a:rPr lang="en-US" dirty="0"/>
              <a:t>Used in long-running workflows</a:t>
            </a:r>
          </a:p>
          <a:p>
            <a:pPr lvl="1"/>
            <a:r>
              <a:rPr lang="en-US" dirty="0"/>
              <a:t>Ideal for transactional processes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 Machine Diagram</a:t>
            </a:r>
          </a:p>
        </p:txBody>
      </p:sp>
      <p:sp>
        <p:nvSpPr>
          <p:cNvPr id="3" name="Oval 2"/>
          <p:cNvSpPr/>
          <p:nvPr/>
        </p:nvSpPr>
        <p:spPr>
          <a:xfrm>
            <a:off x="1064871" y="1874838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State 1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1874838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State 2</a:t>
            </a:r>
          </a:p>
        </p:txBody>
      </p:sp>
      <p:sp>
        <p:nvSpPr>
          <p:cNvPr id="5" name="Oval 4"/>
          <p:cNvSpPr/>
          <p:nvPr/>
        </p:nvSpPr>
        <p:spPr>
          <a:xfrm>
            <a:off x="3015205" y="36576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🔹 VARIABLES IN UiPath</a:t>
            </a:r>
          </a:p>
          <a:p>
            <a:r>
              <a:rPr lang="en-US" dirty="0"/>
              <a:t>In UiPath Studio, a </a:t>
            </a:r>
            <a:r>
              <a:rPr lang="en-US" b="1" dirty="0"/>
              <a:t>Variable</a:t>
            </a:r>
            <a:r>
              <a:rPr lang="en-US" dirty="0"/>
              <a:t> is a named memory location used to store data during workflow execution.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2112-2E47-1141-3C53-357189B0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 Formal </a:t>
            </a:r>
            <a:r>
              <a:rPr lang="en-US" dirty="0" err="1"/>
              <a:t>DefinitionA</a:t>
            </a:r>
            <a:r>
              <a:rPr lang="en-US" dirty="0"/>
              <a:t> variable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EDE4-A555-1361-01FF-E9B27DBB6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8162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1️⃣ Formal Definition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variable</a:t>
            </a:r>
            <a:r>
              <a:rPr lang="en-US" dirty="0"/>
              <a:t> is:</a:t>
            </a:r>
          </a:p>
          <a:p>
            <a:pPr>
              <a:buNone/>
            </a:pPr>
            <a:r>
              <a:rPr lang="en-US" dirty="0"/>
              <a:t>A typed container allocated in workflow scope to hold runtime values.</a:t>
            </a:r>
          </a:p>
          <a:p>
            <a:pPr>
              <a:buNone/>
            </a:pPr>
            <a:r>
              <a:rPr lang="en-US" dirty="0"/>
              <a:t>It has: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Identifier (Name)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Default Value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078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DF7F36-68E6-C471-3616-7C75891DE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159" y="891250"/>
            <a:ext cx="8119641" cy="54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71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5544-CFBF-AD18-CAEE-5F4B3696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838F5B-EDAA-9D0B-286F-86C46D9A5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555585"/>
            <a:ext cx="8559478" cy="591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44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C463-F0CA-C25F-3EE0-2D3FA513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AFEC5-15CA-78E4-B594-90CAD7311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132CE9-2F4E-4645-C1A7-5AF3EAD73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59" y="486137"/>
            <a:ext cx="8385858" cy="572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67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6788-3292-DB71-D81F-45CD34C2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4️⃣ Scope of 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B1D1F-9F47-2994-D586-6C25FCE49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33041"/>
            <a:ext cx="8229600" cy="5240437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Scope determines lifetime + accessibility.</a:t>
            </a:r>
          </a:p>
          <a:p>
            <a:pPr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 Sequence</a:t>
            </a:r>
          </a:p>
          <a:p>
            <a:pPr marL="0" indent="0">
              <a:buNone/>
            </a:pPr>
            <a:r>
              <a:rPr lang="en-US" dirty="0"/>
              <a:t>      ├── Variable A (Scope: Sequence)</a:t>
            </a:r>
          </a:p>
          <a:p>
            <a:pPr marL="0" indent="0">
              <a:buNone/>
            </a:pPr>
            <a:r>
              <a:rPr lang="en-US" dirty="0"/>
              <a:t>	 ├── If</a:t>
            </a:r>
          </a:p>
          <a:p>
            <a:pPr marL="0" indent="0">
              <a:buNone/>
            </a:pPr>
            <a:r>
              <a:rPr lang="en-US" dirty="0"/>
              <a:t>       │     └── Variable B (Scope: If)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Variable A → Accessible everywhere inside Sequence</a:t>
            </a:r>
          </a:p>
          <a:p>
            <a:r>
              <a:rPr lang="en-US" dirty="0"/>
              <a:t>Variable B → Accessible only inside If</a:t>
            </a:r>
          </a:p>
          <a:p>
            <a:r>
              <a:rPr lang="en-US" b="1" dirty="0"/>
              <a:t>Important:</a:t>
            </a:r>
          </a:p>
          <a:p>
            <a:r>
              <a:rPr lang="en-US" dirty="0"/>
              <a:t>Scope is hierarchical (tree-based execution model).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667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0674-888F-438B-5E68-CAC36808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817"/>
            <a:ext cx="8229600" cy="73235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🔹 ARGUMENTS IN UiPath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D1C9-49ED-1716-703F-8BC295AB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Arguments are used for:</a:t>
            </a:r>
          </a:p>
          <a:p>
            <a:pPr>
              <a:buNone/>
            </a:pPr>
            <a:r>
              <a:rPr lang="en-US" dirty="0"/>
              <a:t>Data communication between workflows.</a:t>
            </a:r>
          </a:p>
          <a:p>
            <a:pPr>
              <a:buNone/>
            </a:pPr>
            <a:r>
              <a:rPr lang="en-US" dirty="0"/>
              <a:t>Think of arguments like </a:t>
            </a:r>
            <a:r>
              <a:rPr lang="en-US" b="1" dirty="0"/>
              <a:t>function parameters</a:t>
            </a:r>
            <a:r>
              <a:rPr lang="en-US" dirty="0"/>
              <a:t> in programming.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1️⃣ Why Arguments?</a:t>
            </a:r>
          </a:p>
          <a:p>
            <a:pPr>
              <a:buNone/>
            </a:pPr>
            <a:r>
              <a:rPr lang="en-US" dirty="0"/>
              <a:t>If workflow A calls workflow B: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 cannot cross workflow boundary.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Arguments enable controlled data exchange.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3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8281BA-A0B9-02ED-3CA8-2C85989B0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717631"/>
            <a:ext cx="8229599" cy="527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157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3428-67DD-4B0C-00F8-E39A386C7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820" y="160862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✅ Variable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local memory container</a:t>
            </a:r>
            <a:r>
              <a:rPr lang="en-US" dirty="0"/>
              <a:t> used to store data </a:t>
            </a:r>
            <a:r>
              <a:rPr lang="en-US" b="1" dirty="0"/>
              <a:t>inside a workflow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✅ Argument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data transfer mechanism</a:t>
            </a:r>
            <a:r>
              <a:rPr lang="en-US" dirty="0"/>
              <a:t> used to pass values </a:t>
            </a:r>
            <a:r>
              <a:rPr lang="en-US" b="1" dirty="0"/>
              <a:t>between workflows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0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41A66C-0C51-DBBD-722A-E956574ADB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703162"/>
            <a:ext cx="8339559" cy="545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990-1A1C-1C66-3909-409221B44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Input/Output data handling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E6D0E-5CA4-6B16-EF0C-C35044070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 </a:t>
            </a:r>
            <a:r>
              <a:rPr lang="en-US" b="1" dirty="0"/>
              <a:t>UiPath Studio</a:t>
            </a:r>
            <a:r>
              <a:rPr lang="en-US" dirty="0"/>
              <a:t>, </a:t>
            </a:r>
            <a:r>
              <a:rPr lang="en-US" i="1" dirty="0"/>
              <a:t>Input/Output data handling</a:t>
            </a:r>
            <a:r>
              <a:rPr lang="en-US" dirty="0"/>
              <a:t> refers to how a workflow </a:t>
            </a:r>
            <a:r>
              <a:rPr lang="en-US" b="1" dirty="0"/>
              <a:t>receives data (input), processes it, and returns or stores results (output)</a:t>
            </a:r>
            <a:r>
              <a:rPr lang="en-US" dirty="0"/>
              <a:t>. In RPA design, this is usually implemented using </a:t>
            </a:r>
            <a:r>
              <a:rPr lang="en-US" b="1" dirty="0"/>
              <a:t>arguments, variables, files, and external data sources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792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F937-8FAD-33DE-E573-3B16F55AE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35666"/>
            <a:ext cx="8229600" cy="5790497"/>
          </a:xfrm>
        </p:spPr>
        <p:txBody>
          <a:bodyPr/>
          <a:lstStyle/>
          <a:p>
            <a:r>
              <a:rPr lang="en-US" dirty="0"/>
              <a:t>1. Input Data Handling in </a:t>
            </a:r>
            <a:r>
              <a:rPr lang="en-US" dirty="0" err="1"/>
              <a:t>UiPathInput</a:t>
            </a:r>
            <a:r>
              <a:rPr lang="en-US" dirty="0"/>
              <a:t> data is the information provided to a workflow before execution.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E24FD8-973C-7059-AF4A-7687EE240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444875"/>
              </p:ext>
            </p:extLst>
          </p:nvPr>
        </p:nvGraphicFramePr>
        <p:xfrm>
          <a:off x="266219" y="2129742"/>
          <a:ext cx="8542116" cy="4207473"/>
        </p:xfrm>
        <a:graphic>
          <a:graphicData uri="http://schemas.openxmlformats.org/drawingml/2006/table">
            <a:tbl>
              <a:tblPr/>
              <a:tblGrid>
                <a:gridCol w="2847372">
                  <a:extLst>
                    <a:ext uri="{9D8B030D-6E8A-4147-A177-3AD203B41FA5}">
                      <a16:colId xmlns:a16="http://schemas.microsoft.com/office/drawing/2014/main" val="3008358820"/>
                    </a:ext>
                  </a:extLst>
                </a:gridCol>
                <a:gridCol w="2847372">
                  <a:extLst>
                    <a:ext uri="{9D8B030D-6E8A-4147-A177-3AD203B41FA5}">
                      <a16:colId xmlns:a16="http://schemas.microsoft.com/office/drawing/2014/main" val="2366876982"/>
                    </a:ext>
                  </a:extLst>
                </a:gridCol>
                <a:gridCol w="2847372">
                  <a:extLst>
                    <a:ext uri="{9D8B030D-6E8A-4147-A177-3AD203B41FA5}">
                      <a16:colId xmlns:a16="http://schemas.microsoft.com/office/drawing/2014/main" val="373028796"/>
                    </a:ext>
                  </a:extLst>
                </a:gridCol>
              </a:tblGrid>
              <a:tr h="49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157205"/>
                  </a:ext>
                </a:extLst>
              </a:tr>
              <a:tr h="8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Arguments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passed from parent workflow to child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228661"/>
                  </a:ext>
                </a:extLst>
              </a:tr>
              <a:tr h="8662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User Input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 entered by user through dialogs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313743"/>
                  </a:ext>
                </a:extLst>
              </a:tr>
              <a:tr h="49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Excel, CSV, text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Sales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586802"/>
                  </a:ext>
                </a:extLst>
              </a:tr>
              <a:tr h="49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Databases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SQL queries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9186643"/>
                  </a:ext>
                </a:extLst>
              </a:tr>
              <a:tr h="49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Applications/Web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Extracted using selectors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Invoice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572254"/>
                  </a:ext>
                </a:extLst>
              </a:tr>
              <a:tr h="494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APIs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JSON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72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02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BE54-1312-5ABF-A43D-532308B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FA689-3E07-0C88-A938-89AD40F86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Input Dialog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Read Range (Excel)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Read Text File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HTTP Request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Get Text / Get Attribute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61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32FBF-FDD2-6B51-D3F2-DF5B4F424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03836"/>
            <a:ext cx="8229600" cy="18143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Output Data Handling in UiPath</a:t>
            </a:r>
          </a:p>
          <a:p>
            <a:pPr marL="0" indent="0">
              <a:buNone/>
            </a:pPr>
            <a:r>
              <a:rPr lang="en-US" dirty="0"/>
              <a:t>Output data is the result generated after processing.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52C19B-9A80-110C-220E-47337C84D1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145930"/>
              </p:ext>
            </p:extLst>
          </p:nvPr>
        </p:nvGraphicFramePr>
        <p:xfrm>
          <a:off x="572947" y="2566816"/>
          <a:ext cx="8229600" cy="363721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8100233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822848013"/>
                    </a:ext>
                  </a:extLst>
                </a:gridCol>
              </a:tblGrid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highlight>
                            <a:srgbClr val="FFFF00"/>
                          </a:highlight>
                        </a:rPr>
                        <a:t>Destination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300862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Message Box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Display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27109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Excel File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Write processed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96612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Database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Insert record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847546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Text File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Save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149511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Arguments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value to parent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446914"/>
                  </a:ext>
                </a:extLst>
              </a:tr>
              <a:tr h="5196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Email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Send report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600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9502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073F3-0729-53FA-49C5-80B88DE27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Example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Range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Write Text File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Insert Query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Send Outlook Mail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Message Box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328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E6FEBB-B318-65EC-BC11-0EE37D6E3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5587777"/>
              </p:ext>
            </p:extLst>
          </p:nvPr>
        </p:nvGraphicFramePr>
        <p:xfrm>
          <a:off x="457200" y="2656903"/>
          <a:ext cx="8385858" cy="2712720"/>
        </p:xfrm>
        <a:graphic>
          <a:graphicData uri="http://schemas.openxmlformats.org/drawingml/2006/table">
            <a:tbl>
              <a:tblPr/>
              <a:tblGrid>
                <a:gridCol w="2795286">
                  <a:extLst>
                    <a:ext uri="{9D8B030D-6E8A-4147-A177-3AD203B41FA5}">
                      <a16:colId xmlns:a16="http://schemas.microsoft.com/office/drawing/2014/main" val="3823607339"/>
                    </a:ext>
                  </a:extLst>
                </a:gridCol>
                <a:gridCol w="2765800">
                  <a:extLst>
                    <a:ext uri="{9D8B030D-6E8A-4147-A177-3AD203B41FA5}">
                      <a16:colId xmlns:a16="http://schemas.microsoft.com/office/drawing/2014/main" val="1346003828"/>
                    </a:ext>
                  </a:extLst>
                </a:gridCol>
                <a:gridCol w="2824772">
                  <a:extLst>
                    <a:ext uri="{9D8B030D-6E8A-4147-A177-3AD203B41FA5}">
                      <a16:colId xmlns:a16="http://schemas.microsoft.com/office/drawing/2014/main" val="29045111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r>
                        <a:rPr lang="en-US" sz="2000" b="1" dirty="0"/>
                        <a:t>Types of Arguments</a:t>
                      </a:r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r>
                        <a:rPr lang="en-US" sz="2000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r>
                        <a:rPr lang="en-US" sz="2000" b="1" dirty="0"/>
                        <a:t>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endParaRPr lang="en-US" sz="2000" b="1" dirty="0"/>
                    </a:p>
                    <a:p>
                      <a:pPr>
                        <a:buNone/>
                      </a:pPr>
                      <a:r>
                        <a:rPr lang="en-US" sz="2000" b="1" dirty="0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855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Receive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11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Send 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30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In/Out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Both directions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Modify existing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9727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92E67FF-8853-7FC8-040B-F97EFF9F7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994910"/>
            <a:ext cx="8027043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Arguments for Input/Output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Arguments are used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 data between workflows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722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CD1765-AAA0-53A7-7480-A823ADF335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587050"/>
              </p:ext>
            </p:extLst>
          </p:nvPr>
        </p:nvGraphicFramePr>
        <p:xfrm>
          <a:off x="457200" y="2103983"/>
          <a:ext cx="8229600" cy="380479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022385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773372581"/>
                    </a:ext>
                  </a:extLst>
                </a:gridCol>
              </a:tblGrid>
              <a:tr h="17481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b="1" dirty="0"/>
                    </a:p>
                    <a:p>
                      <a:pPr>
                        <a:buNone/>
                      </a:pPr>
                      <a:r>
                        <a:rPr lang="en-US" sz="2400" b="1" dirty="0"/>
                        <a:t>Common Types:</a:t>
                      </a:r>
                    </a:p>
                    <a:p>
                      <a:pPr>
                        <a:buNone/>
                      </a:pPr>
                      <a:endParaRPr lang="en-US" sz="2400" b="1" dirty="0"/>
                    </a:p>
                    <a:p>
                      <a:pPr>
                        <a:buNone/>
                      </a:pPr>
                      <a:r>
                        <a:rPr lang="en-US" sz="2400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b="1" dirty="0"/>
                    </a:p>
                    <a:p>
                      <a:pPr>
                        <a:buNone/>
                      </a:pPr>
                      <a:endParaRPr lang="en-US" sz="2400" b="1" dirty="0"/>
                    </a:p>
                    <a:p>
                      <a:pPr>
                        <a:buNone/>
                      </a:pPr>
                      <a:endParaRPr lang="en-US" sz="2400" b="1" dirty="0"/>
                    </a:p>
                    <a:p>
                      <a:pPr>
                        <a:buNone/>
                      </a:pPr>
                      <a:r>
                        <a:rPr lang="en-US" sz="2400" b="1" dirty="0"/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356539"/>
                  </a:ext>
                </a:extLst>
              </a:tr>
              <a:tr h="41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76451"/>
                  </a:ext>
                </a:extLst>
              </a:tr>
              <a:tr h="41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Numbers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206732"/>
                  </a:ext>
                </a:extLst>
              </a:tr>
              <a:tr h="41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Boolean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True/False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207627"/>
                  </a:ext>
                </a:extLst>
              </a:tr>
              <a:tr h="41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2824671"/>
                  </a:ext>
                </a:extLst>
              </a:tr>
              <a:tr h="4113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Multiple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32000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DFB7305-0419-7E86-D48F-20D2BE3FB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09" y="682394"/>
            <a:ext cx="795845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Variables in Data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Variables temporarily store data inside the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479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Control Flow and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If, Switch for conditions</a:t>
            </a:r>
          </a:p>
          <a:p>
            <a:pPr lvl="1"/>
            <a:r>
              <a:t>While, Do While loops</a:t>
            </a:r>
          </a:p>
          <a:p>
            <a:pPr lvl="1"/>
            <a:r>
              <a:t>For Each Row for DataTables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Assign, Filter Data Table</a:t>
            </a:r>
          </a:p>
          <a:p>
            <a:pPr lvl="1"/>
            <a:r>
              <a:t>Sort Data Table</a:t>
            </a:r>
          </a:p>
          <a:p>
            <a:pPr lvl="1"/>
            <a:r>
              <a:t>LINQ Queries for advanced processing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Read Excel into DataTable</a:t>
            </a:r>
          </a:p>
          <a:p>
            <a:pPr lvl="1"/>
            <a:r>
              <a:t>Loop through records</a:t>
            </a:r>
          </a:p>
          <a:p>
            <a:pPr lvl="1"/>
            <a:r>
              <a:t>Process each record dynamically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UiPath Studio Interface Overview</a:t>
            </a:r>
          </a:p>
        </p:txBody>
      </p:sp>
      <p:pic>
        <p:nvPicPr>
          <p:cNvPr id="3" name="Picture 2" descr="moc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with Activities</a:t>
            </a:r>
          </a:p>
        </p:txBody>
      </p:sp>
      <p:pic>
        <p:nvPicPr>
          <p:cNvPr id="3" name="Picture 2" descr="moc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638</Words>
  <Application>Microsoft Office PowerPoint</Application>
  <PresentationFormat>On-screen Show (4:3)</PresentationFormat>
  <Paragraphs>185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Module 2: Workflows and Data Handling</vt:lpstr>
      <vt:lpstr>Sequence Workflow</vt:lpstr>
      <vt:lpstr>Sequence Diagram</vt:lpstr>
      <vt:lpstr>Flowchart Workflow</vt:lpstr>
      <vt:lpstr>Flowchart Diagram</vt:lpstr>
      <vt:lpstr>State Machine Workflow</vt:lpstr>
      <vt:lpstr>State Machine Diagram</vt:lpstr>
      <vt:lpstr>Variables and Arguments</vt:lpstr>
      <vt:lpstr>1️⃣ Formal DefinitionA variable is</vt:lpstr>
      <vt:lpstr>PowerPoint Presentation</vt:lpstr>
      <vt:lpstr>PowerPoint Presentation</vt:lpstr>
      <vt:lpstr>PowerPoint Presentation</vt:lpstr>
      <vt:lpstr>4️⃣ Scope of Variables </vt:lpstr>
      <vt:lpstr>🔹 ARGUMENTS IN UiPath </vt:lpstr>
      <vt:lpstr>PowerPoint Presentation</vt:lpstr>
      <vt:lpstr>PowerPoint Presentation</vt:lpstr>
      <vt:lpstr>PowerPoint Presentation</vt:lpstr>
      <vt:lpstr>Input/Output data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Control Flow and Loops</vt:lpstr>
      <vt:lpstr>Data Manipulation</vt:lpstr>
      <vt:lpstr>Data-Driven Automation</vt:lpstr>
      <vt:lpstr>UiPath Studio Interface Overview</vt:lpstr>
      <vt:lpstr>Sequence with Activities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jikku thomas</cp:lastModifiedBy>
  <cp:revision>4</cp:revision>
  <dcterms:created xsi:type="dcterms:W3CDTF">2013-01-27T09:14:16Z</dcterms:created>
  <dcterms:modified xsi:type="dcterms:W3CDTF">2026-03-12T05:35:37Z</dcterms:modified>
  <cp:category/>
</cp:coreProperties>
</file>